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  <p:embeddedFont>
      <p:font typeface="Raleway" pitchFamily="2" charset="0"/>
      <p:regular r:id="rId18"/>
    </p:embeddedFont>
    <p:embeddedFont>
      <p:font typeface="Raleway Bold" charset="0"/>
      <p:regular r:id="rId19"/>
    </p:embeddedFont>
    <p:embeddedFont>
      <p:font typeface="Raleway Bold Italics" panose="020B0604020202020204" charset="0"/>
      <p:regular r:id="rId20"/>
    </p:embeddedFont>
    <p:embeddedFont>
      <p:font typeface="Raleway Medium" pitchFamily="2" charset="0"/>
      <p:regular r:id="rId21"/>
    </p:embeddedFont>
    <p:embeddedFont>
      <p:font typeface="Raleway Semi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22" autoAdjust="0"/>
  </p:normalViewPr>
  <p:slideViewPr>
    <p:cSldViewPr>
      <p:cViewPr varScale="1">
        <p:scale>
          <a:sx n="59" d="100"/>
          <a:sy n="59" d="100"/>
        </p:scale>
        <p:origin x="18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A2DB3-E70E-4EB5-B3CE-00E146D23BA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23CC7-06E2-4EDE-A392-A69304ED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07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23CC7-06E2-4EDE-A392-A69304ED04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3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3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514856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44216" y="2306478"/>
            <a:ext cx="5118031" cy="5574093"/>
          </a:xfrm>
          <a:custGeom>
            <a:avLst/>
            <a:gdLst/>
            <a:ahLst/>
            <a:cxnLst/>
            <a:rect l="l" t="t" r="r" b="b"/>
            <a:pathLst>
              <a:path w="5118031" h="5574093">
                <a:moveTo>
                  <a:pt x="0" y="0"/>
                </a:moveTo>
                <a:lnTo>
                  <a:pt x="5118031" y="0"/>
                </a:lnTo>
                <a:lnTo>
                  <a:pt x="5118031" y="5574094"/>
                </a:lnTo>
                <a:lnTo>
                  <a:pt x="0" y="5574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988686" y="282957"/>
            <a:ext cx="5736289" cy="1326517"/>
          </a:xfrm>
          <a:custGeom>
            <a:avLst/>
            <a:gdLst/>
            <a:ahLst/>
            <a:cxnLst/>
            <a:rect l="l" t="t" r="r" b="b"/>
            <a:pathLst>
              <a:path w="5736289" h="1326517">
                <a:moveTo>
                  <a:pt x="0" y="0"/>
                </a:moveTo>
                <a:lnTo>
                  <a:pt x="5736290" y="0"/>
                </a:lnTo>
                <a:lnTo>
                  <a:pt x="5736290" y="1326517"/>
                </a:lnTo>
                <a:lnTo>
                  <a:pt x="0" y="13265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426091">
            <a:off x="-327809" y="7711577"/>
            <a:ext cx="10661548" cy="3562734"/>
          </a:xfrm>
          <a:custGeom>
            <a:avLst/>
            <a:gdLst/>
            <a:ahLst/>
            <a:cxnLst/>
            <a:rect l="l" t="t" r="r" b="b"/>
            <a:pathLst>
              <a:path w="10661548" h="3562734">
                <a:moveTo>
                  <a:pt x="0" y="0"/>
                </a:moveTo>
                <a:lnTo>
                  <a:pt x="10661549" y="0"/>
                </a:lnTo>
                <a:lnTo>
                  <a:pt x="10661549" y="3562734"/>
                </a:lnTo>
                <a:lnTo>
                  <a:pt x="0" y="35627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4489" y="2761598"/>
            <a:ext cx="9614823" cy="4047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23"/>
              </a:lnSpc>
            </a:pPr>
            <a:r>
              <a:rPr lang="en-US" sz="9566" b="1" spc="-63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Analysis Data of  </a:t>
            </a:r>
          </a:p>
          <a:p>
            <a:pPr marL="0" lvl="1" indent="0" algn="l">
              <a:lnSpc>
                <a:spcPts val="10523"/>
              </a:lnSpc>
            </a:pPr>
            <a:r>
              <a:rPr lang="en-US" sz="9566" b="1" spc="-63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Best Entertainment Arenas in KSA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315360" y="263907"/>
            <a:ext cx="7817147" cy="118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sz="2554" b="1" spc="-117">
                <a:solidFill>
                  <a:srgbClr val="07594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Course: AI221 – AI Programming  </a:t>
            </a:r>
          </a:p>
          <a:p>
            <a:pPr algn="ctr">
              <a:lnSpc>
                <a:spcPts val="3116"/>
              </a:lnSpc>
            </a:pPr>
            <a:r>
              <a:rPr lang="en-US" sz="2554" b="1" spc="-117">
                <a:solidFill>
                  <a:srgbClr val="07594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University: Taibah University  </a:t>
            </a:r>
          </a:p>
          <a:p>
            <a:pPr marL="0" lvl="1" indent="0" algn="ctr">
              <a:lnSpc>
                <a:spcPts val="3116"/>
              </a:lnSpc>
            </a:pPr>
            <a:r>
              <a:rPr lang="en-US" sz="2554" b="1" spc="-117">
                <a:solidFill>
                  <a:srgbClr val="07594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Semester: Fall 2025  </a:t>
            </a:r>
          </a:p>
        </p:txBody>
      </p:sp>
      <p:sp>
        <p:nvSpPr>
          <p:cNvPr id="8" name="Freeform 8"/>
          <p:cNvSpPr/>
          <p:nvPr/>
        </p:nvSpPr>
        <p:spPr>
          <a:xfrm rot="-9551337">
            <a:off x="3654360" y="-1043069"/>
            <a:ext cx="7947754" cy="2655874"/>
          </a:xfrm>
          <a:custGeom>
            <a:avLst/>
            <a:gdLst/>
            <a:ahLst/>
            <a:cxnLst/>
            <a:rect l="l" t="t" r="r" b="b"/>
            <a:pathLst>
              <a:path w="7947754" h="2655874">
                <a:moveTo>
                  <a:pt x="0" y="0"/>
                </a:moveTo>
                <a:lnTo>
                  <a:pt x="7947753" y="0"/>
                </a:lnTo>
                <a:lnTo>
                  <a:pt x="7947753" y="2655875"/>
                </a:lnTo>
                <a:lnTo>
                  <a:pt x="0" y="265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219837" y="8577576"/>
            <a:ext cx="5242410" cy="1372558"/>
          </a:xfrm>
          <a:custGeom>
            <a:avLst/>
            <a:gdLst/>
            <a:ahLst/>
            <a:cxnLst/>
            <a:rect l="l" t="t" r="r" b="b"/>
            <a:pathLst>
              <a:path w="5242410" h="1372558">
                <a:moveTo>
                  <a:pt x="0" y="0"/>
                </a:moveTo>
                <a:lnTo>
                  <a:pt x="5242410" y="0"/>
                </a:lnTo>
                <a:lnTo>
                  <a:pt x="5242410" y="1372559"/>
                </a:lnTo>
                <a:lnTo>
                  <a:pt x="0" y="13725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717919" y="8744267"/>
            <a:ext cx="6949343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 :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Wateen-Fatimah-Shahad Alwadan</a:t>
            </a:r>
          </a:p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Shahad Alrehaili-Bayan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033" y="8055708"/>
            <a:ext cx="1618027" cy="1567463"/>
          </a:xfrm>
          <a:custGeom>
            <a:avLst/>
            <a:gdLst/>
            <a:ahLst/>
            <a:cxnLst/>
            <a:rect l="l" t="t" r="r" b="b"/>
            <a:pathLst>
              <a:path w="1618027" h="1567463">
                <a:moveTo>
                  <a:pt x="0" y="0"/>
                </a:moveTo>
                <a:lnTo>
                  <a:pt x="1618026" y="0"/>
                </a:lnTo>
                <a:lnTo>
                  <a:pt x="1618026" y="1567463"/>
                </a:lnTo>
                <a:lnTo>
                  <a:pt x="0" y="1567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79940" y="2353001"/>
            <a:ext cx="1708363" cy="1664230"/>
          </a:xfrm>
          <a:custGeom>
            <a:avLst/>
            <a:gdLst/>
            <a:ahLst/>
            <a:cxnLst/>
            <a:rect l="l" t="t" r="r" b="b"/>
            <a:pathLst>
              <a:path w="1708363" h="1664230">
                <a:moveTo>
                  <a:pt x="0" y="0"/>
                </a:moveTo>
                <a:lnTo>
                  <a:pt x="1708364" y="0"/>
                </a:lnTo>
                <a:lnTo>
                  <a:pt x="1708364" y="1664230"/>
                </a:lnTo>
                <a:lnTo>
                  <a:pt x="0" y="1664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70277" y="5244687"/>
            <a:ext cx="1618027" cy="1582295"/>
          </a:xfrm>
          <a:custGeom>
            <a:avLst/>
            <a:gdLst/>
            <a:ahLst/>
            <a:cxnLst/>
            <a:rect l="l" t="t" r="r" b="b"/>
            <a:pathLst>
              <a:path w="1618027" h="1582295">
                <a:moveTo>
                  <a:pt x="0" y="0"/>
                </a:moveTo>
                <a:lnTo>
                  <a:pt x="1618027" y="0"/>
                </a:lnTo>
                <a:lnTo>
                  <a:pt x="1618027" y="1582296"/>
                </a:lnTo>
                <a:lnTo>
                  <a:pt x="0" y="1582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492162" y="2414960"/>
            <a:ext cx="1638454" cy="1602272"/>
          </a:xfrm>
          <a:custGeom>
            <a:avLst/>
            <a:gdLst/>
            <a:ahLst/>
            <a:cxnLst/>
            <a:rect l="l" t="t" r="r" b="b"/>
            <a:pathLst>
              <a:path w="1638454" h="1602272">
                <a:moveTo>
                  <a:pt x="0" y="0"/>
                </a:moveTo>
                <a:lnTo>
                  <a:pt x="1638454" y="0"/>
                </a:lnTo>
                <a:lnTo>
                  <a:pt x="1638454" y="1602271"/>
                </a:lnTo>
                <a:lnTo>
                  <a:pt x="0" y="16022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492162" y="5143500"/>
            <a:ext cx="1638454" cy="1602272"/>
          </a:xfrm>
          <a:custGeom>
            <a:avLst/>
            <a:gdLst/>
            <a:ahLst/>
            <a:cxnLst/>
            <a:rect l="l" t="t" r="r" b="b"/>
            <a:pathLst>
              <a:path w="1638454" h="1602272">
                <a:moveTo>
                  <a:pt x="0" y="0"/>
                </a:moveTo>
                <a:lnTo>
                  <a:pt x="1638454" y="0"/>
                </a:lnTo>
                <a:lnTo>
                  <a:pt x="1638454" y="1602272"/>
                </a:lnTo>
                <a:lnTo>
                  <a:pt x="0" y="1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92162" y="8014840"/>
            <a:ext cx="1638454" cy="1602272"/>
          </a:xfrm>
          <a:custGeom>
            <a:avLst/>
            <a:gdLst/>
            <a:ahLst/>
            <a:cxnLst/>
            <a:rect l="l" t="t" r="r" b="b"/>
            <a:pathLst>
              <a:path w="1638454" h="1602272">
                <a:moveTo>
                  <a:pt x="0" y="0"/>
                </a:moveTo>
                <a:lnTo>
                  <a:pt x="1638454" y="0"/>
                </a:lnTo>
                <a:lnTo>
                  <a:pt x="1638454" y="1602272"/>
                </a:lnTo>
                <a:lnTo>
                  <a:pt x="0" y="1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477008" y="190777"/>
            <a:ext cx="7315200" cy="1675846"/>
          </a:xfrm>
          <a:custGeom>
            <a:avLst/>
            <a:gdLst/>
            <a:ahLst/>
            <a:cxnLst/>
            <a:rect l="l" t="t" r="r" b="b"/>
            <a:pathLst>
              <a:path w="7315200" h="1675846">
                <a:moveTo>
                  <a:pt x="0" y="0"/>
                </a:moveTo>
                <a:lnTo>
                  <a:pt x="7315200" y="0"/>
                </a:lnTo>
                <a:lnTo>
                  <a:pt x="7315200" y="1675846"/>
                </a:lnTo>
                <a:lnTo>
                  <a:pt x="0" y="1675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546072" y="5582239"/>
            <a:ext cx="6055128" cy="1820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Overview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138059" y="2650534"/>
            <a:ext cx="6539341" cy="1820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Description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89393" y="8236331"/>
            <a:ext cx="5683207" cy="1820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Processing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80834" y="2650534"/>
            <a:ext cx="4702670" cy="1820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Analysis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92208" y="8236331"/>
            <a:ext cx="3597771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Dashboard </a:t>
            </a:r>
          </a:p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20B48C"/>
                </a:solidFill>
                <a:latin typeface="Raleway Bold"/>
                <a:ea typeface="Raleway Bold"/>
                <a:cs typeface="Raleway Bold"/>
                <a:sym typeface="Raleway Bold"/>
              </a:rPr>
              <a:t>(Additional part 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85943" y="5535137"/>
            <a:ext cx="579477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Visualization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3272" y="161969"/>
            <a:ext cx="4702671" cy="259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Catalogue</a:t>
            </a:r>
          </a:p>
          <a:p>
            <a:pPr algn="ctr">
              <a:lnSpc>
                <a:spcPts val="10360"/>
              </a:lnSpc>
            </a:pPr>
            <a:endParaRPr lang="en-US" sz="7400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767" y="540256"/>
            <a:ext cx="926839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1" u="none" strike="noStrike" spc="-276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Overview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48564"/>
            <a:ext cx="11123010" cy="883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4"/>
              </a:lnSpc>
            </a:pPr>
            <a:endParaRPr/>
          </a:p>
          <a:p>
            <a:pPr marL="461647" lvl="1" indent="-230824" algn="just">
              <a:lnSpc>
                <a:spcPts val="4704"/>
              </a:lnSpc>
              <a:buFont typeface="Arial"/>
              <a:buChar char="•"/>
            </a:pP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This project is part of AI Programming course and focuses on </a:t>
            </a:r>
            <a:r>
              <a:rPr lang="en-US" sz="2138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cleaning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38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analyzing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and </a:t>
            </a:r>
            <a:r>
              <a:rPr lang="en-US" sz="2138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visualizing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a real-world dataset using Python. The selected dataset </a:t>
            </a:r>
            <a:r>
              <a:rPr lang="en-US" sz="213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contains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information about entertainment places in the Kingdom of Saudi Arabia.</a:t>
            </a:r>
          </a:p>
          <a:p>
            <a:pPr algn="just">
              <a:lnSpc>
                <a:spcPts val="4704"/>
              </a:lnSpc>
            </a:pPr>
            <a:endParaRPr lang="en-US" sz="2138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461647" lvl="1" indent="-230824" algn="l">
              <a:lnSpc>
                <a:spcPts val="4704"/>
              </a:lnSpc>
              <a:buFont typeface="Arial"/>
              <a:buChar char="•"/>
            </a:pP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Analyzing entertainment data </a:t>
            </a:r>
            <a:r>
              <a:rPr lang="en-US" sz="213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is useful for the country because it helps support the ongoing development of the entertainment sector, which is an important part of Saudi Vision 2030.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The results of this analysis can help decision-makers </a:t>
            </a:r>
            <a:r>
              <a:rPr lang="en-US" sz="2138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understand public opinions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38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improve the quality of services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and </a:t>
            </a:r>
            <a:r>
              <a:rPr lang="en-US" sz="2138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enhance visitor experiences in different regions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of Saudi Arabia.</a:t>
            </a:r>
          </a:p>
          <a:p>
            <a:pPr algn="l">
              <a:lnSpc>
                <a:spcPts val="4704"/>
              </a:lnSpc>
            </a:pPr>
            <a:endParaRPr lang="en-US" sz="2138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461647" lvl="1" indent="-230824" algn="l">
              <a:lnSpc>
                <a:spcPts val="4704"/>
              </a:lnSpc>
              <a:buFont typeface="Arial"/>
              <a:buChar char="•"/>
            </a:pP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Python libraries such as </a:t>
            </a:r>
            <a:r>
              <a:rPr lang="en-US" sz="2138" b="1">
                <a:solidFill>
                  <a:srgbClr val="E5BE51"/>
                </a:solidFill>
                <a:latin typeface="Raleway Bold"/>
                <a:ea typeface="Raleway Bold"/>
                <a:cs typeface="Raleway Bold"/>
                <a:sym typeface="Raleway Bold"/>
              </a:rPr>
              <a:t>Pandas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38" b="1">
                <a:solidFill>
                  <a:srgbClr val="E5BE51"/>
                </a:solidFill>
                <a:latin typeface="Raleway Bold"/>
                <a:ea typeface="Raleway Bold"/>
                <a:cs typeface="Raleway Bold"/>
                <a:sym typeface="Raleway Bold"/>
              </a:rPr>
              <a:t>NumPy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38" b="1">
                <a:solidFill>
                  <a:srgbClr val="E5BE51"/>
                </a:solidFill>
                <a:latin typeface="Raleway Bold"/>
                <a:ea typeface="Raleway Bold"/>
                <a:cs typeface="Raleway Bold"/>
                <a:sym typeface="Raleway Bold"/>
              </a:rPr>
              <a:t>Matplotlib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, and </a:t>
            </a:r>
            <a:r>
              <a:rPr lang="en-US" sz="2138" b="1">
                <a:solidFill>
                  <a:srgbClr val="E5BE51"/>
                </a:solidFill>
                <a:latin typeface="Raleway Bold"/>
                <a:ea typeface="Raleway Bold"/>
                <a:cs typeface="Raleway Bold"/>
                <a:sym typeface="Raleway Bold"/>
              </a:rPr>
              <a:t>Seaborn</a:t>
            </a:r>
            <a:r>
              <a:rPr lang="en-US" sz="2138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were used to complete the project.</a:t>
            </a:r>
          </a:p>
          <a:p>
            <a:pPr algn="l">
              <a:lnSpc>
                <a:spcPts val="4704"/>
              </a:lnSpc>
            </a:pPr>
            <a:endParaRPr lang="en-US" sz="2138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4704"/>
              </a:lnSpc>
            </a:pPr>
            <a:endParaRPr lang="en-US" sz="2138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91504" y="4310843"/>
            <a:ext cx="5283692" cy="4947457"/>
          </a:xfrm>
          <a:custGeom>
            <a:avLst/>
            <a:gdLst/>
            <a:ahLst/>
            <a:cxnLst/>
            <a:rect l="l" t="t" r="r" b="b"/>
            <a:pathLst>
              <a:path w="5283692" h="4947457">
                <a:moveTo>
                  <a:pt x="0" y="0"/>
                </a:moveTo>
                <a:lnTo>
                  <a:pt x="5283692" y="0"/>
                </a:lnTo>
                <a:lnTo>
                  <a:pt x="5283692" y="4947457"/>
                </a:lnTo>
                <a:lnTo>
                  <a:pt x="0" y="494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5680" y="3937005"/>
            <a:ext cx="4915041" cy="5052846"/>
          </a:xfrm>
          <a:custGeom>
            <a:avLst/>
            <a:gdLst/>
            <a:ahLst/>
            <a:cxnLst/>
            <a:rect l="l" t="t" r="r" b="b"/>
            <a:pathLst>
              <a:path w="4915041" h="5052846">
                <a:moveTo>
                  <a:pt x="0" y="0"/>
                </a:moveTo>
                <a:lnTo>
                  <a:pt x="4915042" y="0"/>
                </a:lnTo>
                <a:lnTo>
                  <a:pt x="4915042" y="5052846"/>
                </a:lnTo>
                <a:lnTo>
                  <a:pt x="0" y="5052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82611" y="5974250"/>
            <a:ext cx="6306390" cy="3015601"/>
          </a:xfrm>
          <a:custGeom>
            <a:avLst/>
            <a:gdLst/>
            <a:ahLst/>
            <a:cxnLst/>
            <a:rect l="l" t="t" r="r" b="b"/>
            <a:pathLst>
              <a:path w="6306390" h="3015601">
                <a:moveTo>
                  <a:pt x="0" y="0"/>
                </a:moveTo>
                <a:lnTo>
                  <a:pt x="6306391" y="0"/>
                </a:lnTo>
                <a:lnTo>
                  <a:pt x="6306391" y="3015601"/>
                </a:lnTo>
                <a:lnTo>
                  <a:pt x="0" y="3015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9809" y="596032"/>
            <a:ext cx="9030532" cy="73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396"/>
              </a:lnSpc>
            </a:pPr>
            <a:r>
              <a:rPr lang="en-US" sz="5996" b="1" spc="-275">
                <a:solidFill>
                  <a:srgbClr val="035941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Description: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8839" y="3727455"/>
            <a:ext cx="10031030" cy="181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8"/>
              </a:lnSpc>
            </a:pPr>
            <a:r>
              <a:rPr lang="en-US" sz="2053" b="1" spc="6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Name of Datase:</a:t>
            </a:r>
            <a:r>
              <a:rPr lang="en-US" sz="2053" b="1" spc="69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53" b="1" spc="69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Entertainment in Saudi Arabia </a:t>
            </a:r>
          </a:p>
          <a:p>
            <a:pPr algn="l">
              <a:lnSpc>
                <a:spcPts val="2899"/>
              </a:lnSpc>
            </a:pPr>
            <a:r>
              <a:rPr lang="en-US" sz="1317" b="1" spc="4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Link of Dataset in Kaggle:</a:t>
            </a:r>
          </a:p>
          <a:p>
            <a:pPr algn="l">
              <a:lnSpc>
                <a:spcPts val="2899"/>
              </a:lnSpc>
            </a:pPr>
            <a:r>
              <a:rPr lang="en-US" sz="1317" b="1" spc="44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</a:t>
            </a:r>
            <a:r>
              <a:rPr lang="en-US" sz="1317" spc="44">
                <a:solidFill>
                  <a:srgbClr val="1800AD"/>
                </a:solidFill>
                <a:latin typeface="Raleway"/>
                <a:ea typeface="Raleway"/>
                <a:cs typeface="Raleway"/>
                <a:sym typeface="Raleway"/>
              </a:rPr>
              <a:t>https://www.kaggle.com/datasets/anas123siddiqui/entertainment-in-saudi-arabia</a:t>
            </a:r>
          </a:p>
          <a:p>
            <a:pPr algn="l">
              <a:lnSpc>
                <a:spcPts val="4518"/>
              </a:lnSpc>
            </a:pPr>
            <a:endParaRPr lang="en-US" sz="1317" spc="44">
              <a:solidFill>
                <a:srgbClr val="1800A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462673"/>
            <a:ext cx="13056290" cy="286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9"/>
              </a:lnSpc>
            </a:pP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The dataset contains information about </a:t>
            </a:r>
            <a:r>
              <a:rPr lang="en-US" sz="2176" b="1" spc="74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entertainment places in Saudi Arabia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including their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names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ratings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number of reviews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locations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genres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, and </a:t>
            </a:r>
            <a:r>
              <a:rPr lang="en-US" sz="2176" b="1" spc="74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user comments</a:t>
            </a:r>
            <a:r>
              <a:rPr lang="en-US" sz="2176" b="1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. And </a:t>
            </a:r>
            <a:r>
              <a:rPr lang="en-US" sz="2176" b="1" u="none" strike="noStrike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The dataset was loaded </a:t>
            </a:r>
            <a:r>
              <a:rPr lang="en-US" sz="2176" b="1" u="none" strike="noStrike" spc="74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using the Pandas library in Python</a:t>
            </a:r>
            <a:r>
              <a:rPr lang="en-US" sz="2176" b="1" u="none" strike="noStrike" spc="74">
                <a:solidFill>
                  <a:srgbClr val="22A27C"/>
                </a:solidFill>
                <a:latin typeface="Raleway Bold"/>
                <a:ea typeface="Raleway Bold"/>
                <a:cs typeface="Raleway Bold"/>
                <a:sym typeface="Raleway Bold"/>
              </a:rPr>
              <a:t> for  processing and analysis.</a:t>
            </a:r>
          </a:p>
          <a:p>
            <a:pPr algn="l">
              <a:lnSpc>
                <a:spcPts val="4789"/>
              </a:lnSpc>
            </a:pPr>
            <a:endParaRPr lang="en-US" sz="2176" b="1" u="none" strike="noStrike" spc="74">
              <a:solidFill>
                <a:srgbClr val="22A27C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981"/>
              </a:lnSpc>
            </a:pPr>
            <a:endParaRPr lang="en-US" sz="2176" b="1" u="none" strike="noStrike" spc="74">
              <a:solidFill>
                <a:srgbClr val="22A27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8839" y="5332211"/>
            <a:ext cx="2940775" cy="47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Main columns: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 -Name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 -Rating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 -Review count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 -Genre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-</a:t>
            </a: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Location</a:t>
            </a:r>
          </a:p>
          <a:p>
            <a:pPr marL="468818" lvl="1" indent="-234409" algn="l">
              <a:lnSpc>
                <a:spcPts val="4777"/>
              </a:lnSpc>
              <a:buFont typeface="Arial"/>
              <a:buChar char="•"/>
            </a:pPr>
            <a:r>
              <a:rPr lang="en-US" sz="2171" b="1" spc="73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 -Best comments</a:t>
            </a:r>
          </a:p>
          <a:p>
            <a:pPr algn="l">
              <a:lnSpc>
                <a:spcPts val="4777"/>
              </a:lnSpc>
            </a:pPr>
            <a:endParaRPr lang="en-US" sz="2171" b="1" spc="73">
              <a:solidFill>
                <a:srgbClr val="1800AD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65075" y="5949542"/>
            <a:ext cx="6444794" cy="333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453" lvl="1" indent="-264727" algn="l">
              <a:lnSpc>
                <a:spcPts val="5395"/>
              </a:lnSpc>
              <a:buFont typeface="Arial"/>
              <a:buChar char="•"/>
            </a:pPr>
            <a:r>
              <a:rPr lang="en-US" sz="2452" b="1" spc="8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type: </a:t>
            </a:r>
            <a:r>
              <a:rPr lang="en-US" sz="2452" b="1" spc="83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CSV</a:t>
            </a:r>
            <a:r>
              <a:rPr lang="en-US" sz="2452" b="1" spc="8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  <a:p>
            <a:pPr marL="529453" lvl="1" indent="-264727" algn="l">
              <a:lnSpc>
                <a:spcPts val="5395"/>
              </a:lnSpc>
              <a:buFont typeface="Arial"/>
              <a:buChar char="•"/>
            </a:pPr>
            <a:r>
              <a:rPr lang="en-US" sz="2452" b="1" spc="8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Source: </a:t>
            </a:r>
            <a:r>
              <a:rPr lang="en-US" sz="2452" b="1" spc="83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Kaggle</a:t>
            </a:r>
          </a:p>
          <a:p>
            <a:pPr marL="529453" lvl="1" indent="-264727" algn="l">
              <a:lnSpc>
                <a:spcPts val="5395"/>
              </a:lnSpc>
              <a:buFont typeface="Arial"/>
              <a:buChar char="•"/>
            </a:pPr>
            <a:r>
              <a:rPr lang="en-US" sz="2452" b="1" spc="8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Number of rows: </a:t>
            </a:r>
            <a:r>
              <a:rPr lang="en-US" sz="2452" b="1" spc="83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564</a:t>
            </a:r>
          </a:p>
          <a:p>
            <a:pPr marL="529453" lvl="1" indent="-264727" algn="l">
              <a:lnSpc>
                <a:spcPts val="5395"/>
              </a:lnSpc>
              <a:buFont typeface="Arial"/>
              <a:buChar char="•"/>
            </a:pPr>
            <a:r>
              <a:rPr lang="en-US" sz="2452" b="1" spc="8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Number of rows substituted: </a:t>
            </a:r>
            <a:r>
              <a:rPr lang="en-US" sz="2452" b="1" spc="83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500</a:t>
            </a:r>
          </a:p>
          <a:p>
            <a:pPr algn="l">
              <a:lnSpc>
                <a:spcPts val="5395"/>
              </a:lnSpc>
            </a:pPr>
            <a:endParaRPr lang="en-US" sz="2452" b="1" spc="83">
              <a:solidFill>
                <a:srgbClr val="974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2411" y="5143500"/>
            <a:ext cx="6911667" cy="7497864"/>
          </a:xfrm>
          <a:custGeom>
            <a:avLst/>
            <a:gdLst/>
            <a:ahLst/>
            <a:cxnLst/>
            <a:rect l="l" t="t" r="r" b="b"/>
            <a:pathLst>
              <a:path w="6911667" h="7497864">
                <a:moveTo>
                  <a:pt x="0" y="0"/>
                </a:moveTo>
                <a:lnTo>
                  <a:pt x="6911667" y="0"/>
                </a:lnTo>
                <a:lnTo>
                  <a:pt x="6911667" y="7497864"/>
                </a:lnTo>
                <a:lnTo>
                  <a:pt x="0" y="7497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55250" y="1577236"/>
            <a:ext cx="444850" cy="576791"/>
          </a:xfrm>
          <a:custGeom>
            <a:avLst/>
            <a:gdLst/>
            <a:ahLst/>
            <a:cxnLst/>
            <a:rect l="l" t="t" r="r" b="b"/>
            <a:pathLst>
              <a:path w="444850" h="576791">
                <a:moveTo>
                  <a:pt x="0" y="0"/>
                </a:moveTo>
                <a:lnTo>
                  <a:pt x="444850" y="0"/>
                </a:lnTo>
                <a:lnTo>
                  <a:pt x="444850" y="576791"/>
                </a:lnTo>
                <a:lnTo>
                  <a:pt x="0" y="576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9662" y="498091"/>
            <a:ext cx="79248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400"/>
              </a:lnSpc>
            </a:pPr>
            <a:r>
              <a:rPr lang="en-US" sz="6000" b="1" spc="-276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Data Processing: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5542" y="5687846"/>
            <a:ext cx="7635008" cy="476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1"/>
              </a:lnSpc>
            </a:pPr>
            <a:endParaRPr/>
          </a:p>
          <a:p>
            <a:pPr algn="l">
              <a:lnSpc>
                <a:spcPts val="4201"/>
              </a:lnSpc>
            </a:pPr>
            <a:r>
              <a:rPr lang="en-US" sz="2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Handling Missing Values:</a:t>
            </a:r>
            <a:r>
              <a:rPr lang="en-US" sz="2199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.</a:t>
            </a:r>
          </a:p>
          <a:p>
            <a:pPr marL="474979" lvl="1" indent="-237490" algn="l">
              <a:lnSpc>
                <a:spcPts val="4201"/>
              </a:lnSpc>
              <a:buFont typeface="Arial"/>
              <a:buChar char="•"/>
            </a:pPr>
            <a:r>
              <a:rPr lang="en-US" sz="2199" b="1">
                <a:solidFill>
                  <a:srgbClr val="974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Rows with missing</a:t>
            </a:r>
            <a:r>
              <a:rPr lang="en-US" sz="2199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essential information such as genre or location were </a:t>
            </a:r>
            <a:r>
              <a:rPr lang="en-US" sz="2199" b="1">
                <a:solidFill>
                  <a:srgbClr val="974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removed</a:t>
            </a:r>
            <a:r>
              <a:rPr lang="en-US" sz="2199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.</a:t>
            </a:r>
          </a:p>
          <a:p>
            <a:pPr marL="474979" lvl="1" indent="-237490" algn="l">
              <a:lnSpc>
                <a:spcPts val="4201"/>
              </a:lnSpc>
              <a:buFont typeface="Arial"/>
              <a:buChar char="•"/>
            </a:pPr>
            <a:r>
              <a:rPr lang="en-US" sz="2199" b="1">
                <a:solidFill>
                  <a:srgbClr val="1800AD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Missing text</a:t>
            </a:r>
            <a:r>
              <a:rPr lang="en-US" sz="2199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values in user comments were </a:t>
            </a:r>
            <a:r>
              <a:rPr lang="en-US" sz="2199" b="1">
                <a:solidFill>
                  <a:srgbClr val="1800AD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filled with empty strings.</a:t>
            </a:r>
          </a:p>
          <a:p>
            <a:pPr marL="474979" lvl="1" indent="-237490" algn="l">
              <a:lnSpc>
                <a:spcPts val="4201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Missing numerical values</a:t>
            </a:r>
            <a:r>
              <a:rPr lang="en-US" sz="2199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in review count were </a:t>
            </a:r>
            <a:r>
              <a:rPr lang="en-US" sz="2199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replaced with zero.</a:t>
            </a:r>
          </a:p>
          <a:p>
            <a:pPr algn="l">
              <a:lnSpc>
                <a:spcPts val="4201"/>
              </a:lnSpc>
            </a:pPr>
            <a:endParaRPr lang="en-US" sz="2199" b="1">
              <a:solidFill>
                <a:srgbClr val="000000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85317" y="1088641"/>
            <a:ext cx="7544487" cy="428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endParaRPr/>
          </a:p>
          <a:p>
            <a:pPr algn="l">
              <a:lnSpc>
                <a:spcPts val="4299"/>
              </a:lnSpc>
            </a:pPr>
            <a:r>
              <a:rPr lang="en-US" sz="217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Removing Duplicate Records:</a:t>
            </a:r>
            <a:r>
              <a:rPr lang="en-US" sz="2171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marL="468834" lvl="1" indent="-234417" algn="l">
              <a:lnSpc>
                <a:spcPts val="4299"/>
              </a:lnSpc>
              <a:buFont typeface="Arial"/>
              <a:buChar char="•"/>
            </a:pPr>
            <a:r>
              <a:rPr lang="en-US" sz="2171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Duplicates</a:t>
            </a:r>
            <a:r>
              <a:rPr lang="en-US" sz="2171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were </a:t>
            </a:r>
            <a:r>
              <a:rPr lang="en-US" sz="2171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removed</a:t>
            </a:r>
            <a:r>
              <a:rPr lang="en-US" sz="2171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based on place name, genre, and location.</a:t>
            </a:r>
          </a:p>
          <a:p>
            <a:pPr marL="468834" lvl="1" indent="-234417" algn="l">
              <a:lnSpc>
                <a:spcPts val="4299"/>
              </a:lnSpc>
              <a:buFont typeface="Arial"/>
              <a:buChar char="•"/>
            </a:pPr>
            <a:r>
              <a:rPr lang="en-US" sz="2171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This step helped </a:t>
            </a:r>
            <a:r>
              <a:rPr lang="en-US" sz="2171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ensure</a:t>
            </a:r>
            <a:r>
              <a:rPr lang="en-US" sz="2171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that each entertainment place </a:t>
            </a:r>
            <a:r>
              <a:rPr lang="en-US" sz="2171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is counted only once.</a:t>
            </a:r>
          </a:p>
          <a:p>
            <a:pPr algn="l">
              <a:lnSpc>
                <a:spcPts val="4299"/>
              </a:lnSpc>
            </a:pPr>
            <a:endParaRPr lang="en-US" sz="2171" b="1">
              <a:solidFill>
                <a:srgbClr val="1800AD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4299"/>
              </a:lnSpc>
            </a:pPr>
            <a:endParaRPr lang="en-US" sz="2171" b="1">
              <a:solidFill>
                <a:srgbClr val="1800AD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5542" y="968245"/>
            <a:ext cx="8115300" cy="550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endParaRPr/>
          </a:p>
          <a:p>
            <a:pPr algn="l">
              <a:lnSpc>
                <a:spcPts val="4417"/>
              </a:lnSpc>
            </a:pPr>
            <a:r>
              <a:rPr lang="en-US" sz="22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Reformatting:</a:t>
            </a:r>
          </a:p>
          <a:p>
            <a:pPr marL="489150" lvl="1" indent="-244575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Unnecessary columns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were </a:t>
            </a:r>
            <a:r>
              <a:rPr lang="en-US" sz="2265" b="1">
                <a:solidFill>
                  <a:srgbClr val="974FFF"/>
                </a:solidFill>
                <a:latin typeface="Raleway Bold"/>
                <a:ea typeface="Raleway Bold"/>
                <a:cs typeface="Raleway Bold"/>
                <a:sym typeface="Raleway Bold"/>
              </a:rPr>
              <a:t>removed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from the dataset.</a:t>
            </a:r>
          </a:p>
          <a:p>
            <a:pPr marL="489150" lvl="1" indent="-244575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Column names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were </a:t>
            </a:r>
            <a:r>
              <a:rPr lang="en-US" sz="2265" b="1">
                <a:solidFill>
                  <a:srgbClr val="1800AD"/>
                </a:solidFill>
                <a:latin typeface="Raleway Bold"/>
                <a:ea typeface="Raleway Bold"/>
                <a:cs typeface="Raleway Bold"/>
                <a:sym typeface="Raleway Bold"/>
              </a:rPr>
              <a:t>renamed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to be clear and consistent.</a:t>
            </a:r>
          </a:p>
          <a:p>
            <a:pPr marL="489150" lvl="1" indent="-244575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Data types were converted:</a:t>
            </a:r>
          </a:p>
          <a:p>
            <a:pPr marL="978301" lvl="2" indent="-326100" algn="l">
              <a:lnSpc>
                <a:spcPts val="4417"/>
              </a:lnSpc>
              <a:buFont typeface="Arial"/>
              <a:buChar char="⚬"/>
            </a:pPr>
            <a:r>
              <a:rPr lang="en-US" sz="22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Ratings and review counts were converted to numerical values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l">
              <a:lnSpc>
                <a:spcPts val="4417"/>
              </a:lnSpc>
            </a:pPr>
            <a:endParaRPr lang="en-US" sz="2265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4417"/>
              </a:lnSpc>
            </a:pPr>
            <a:endParaRPr lang="en-US" sz="2265" b="1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55250" y="6184682"/>
            <a:ext cx="444850" cy="576791"/>
          </a:xfrm>
          <a:custGeom>
            <a:avLst/>
            <a:gdLst/>
            <a:ahLst/>
            <a:cxnLst/>
            <a:rect l="l" t="t" r="r" b="b"/>
            <a:pathLst>
              <a:path w="444850" h="576791">
                <a:moveTo>
                  <a:pt x="0" y="0"/>
                </a:moveTo>
                <a:lnTo>
                  <a:pt x="444850" y="0"/>
                </a:lnTo>
                <a:lnTo>
                  <a:pt x="444850" y="576792"/>
                </a:lnTo>
                <a:lnTo>
                  <a:pt x="0" y="576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726142" y="1577236"/>
            <a:ext cx="444850" cy="576791"/>
          </a:xfrm>
          <a:custGeom>
            <a:avLst/>
            <a:gdLst/>
            <a:ahLst/>
            <a:cxnLst/>
            <a:rect l="l" t="t" r="r" b="b"/>
            <a:pathLst>
              <a:path w="444850" h="576791">
                <a:moveTo>
                  <a:pt x="0" y="0"/>
                </a:moveTo>
                <a:lnTo>
                  <a:pt x="444850" y="0"/>
                </a:lnTo>
                <a:lnTo>
                  <a:pt x="444850" y="576791"/>
                </a:lnTo>
                <a:lnTo>
                  <a:pt x="0" y="576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864" y="890177"/>
            <a:ext cx="9765680" cy="143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6041" b="1" spc="-277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Data Processing</a:t>
            </a:r>
          </a:p>
          <a:p>
            <a:pPr marL="0" lvl="1" indent="0" algn="l">
              <a:lnSpc>
                <a:spcPts val="5437"/>
              </a:lnSpc>
            </a:pPr>
            <a:endParaRPr lang="en-US" sz="6041" b="1" spc="-277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5992" y="1819631"/>
            <a:ext cx="10836479" cy="276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28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Text Cleaning: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Text values were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converted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to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string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format.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Punctuation, special characters, and emojis were removed using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re.sub()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All text was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converted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to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lowercase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Extra spaces were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removed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to 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standardize comments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15994" y="1817893"/>
            <a:ext cx="6275496" cy="382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22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Validation:</a:t>
            </a:r>
          </a:p>
          <a:p>
            <a:pPr marL="489151" lvl="1" indent="-244576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Rating values were 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checked</a:t>
            </a: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to ensure they fall between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0 and 5.</a:t>
            </a:r>
          </a:p>
          <a:p>
            <a:pPr marL="489151" lvl="1" indent="-244576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Review counts</a:t>
            </a: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were validated to detect 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negative</a:t>
            </a: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values.</a:t>
            </a:r>
          </a:p>
          <a:p>
            <a:pPr marL="489151" lvl="1" indent="-244576" algn="l">
              <a:lnSpc>
                <a:spcPts val="4417"/>
              </a:lnSpc>
              <a:buFont typeface="Arial"/>
              <a:buChar char="•"/>
            </a:pP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Invalid or inconsistent data was 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identified</a:t>
            </a: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 before </a:t>
            </a:r>
            <a:r>
              <a:rPr lang="en-US" sz="226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analysis</a:t>
            </a:r>
            <a:r>
              <a:rPr lang="en-US" sz="226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5992" y="5012757"/>
            <a:ext cx="9670142" cy="163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28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Tokenizing Text Data: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Cleaned comments were 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split into individual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words using 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split().</a:t>
            </a:r>
          </a:p>
          <a:p>
            <a:pPr marL="493437" lvl="1" indent="-246719" algn="l">
              <a:lnSpc>
                <a:spcPts val="4456"/>
              </a:lnSpc>
              <a:buFont typeface="Arial"/>
              <a:buChar char="•"/>
            </a:pP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This 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step</a:t>
            </a:r>
            <a:r>
              <a:rPr lang="en-US" sz="2285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prepared text data for </a:t>
            </a:r>
            <a:r>
              <a:rPr lang="en-US" sz="2285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word-based analysis.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5992" y="7081064"/>
            <a:ext cx="11018498" cy="216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2266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Normalizing Data:</a:t>
            </a:r>
          </a:p>
          <a:p>
            <a:pPr marL="489405" lvl="1" indent="-244703" algn="l">
              <a:lnSpc>
                <a:spcPts val="4420"/>
              </a:lnSpc>
              <a:buFont typeface="Arial"/>
              <a:buChar char="•"/>
            </a:pP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Minimum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and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maximum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values were calculated using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min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() and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max().</a:t>
            </a:r>
          </a:p>
          <a:p>
            <a:pPr marL="489405" lvl="1" indent="-244703" algn="l">
              <a:lnSpc>
                <a:spcPts val="4420"/>
              </a:lnSpc>
              <a:buFont typeface="Arial"/>
              <a:buChar char="•"/>
            </a:pP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Min-Max normalization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was applied to ratings and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review counts.</a:t>
            </a:r>
          </a:p>
          <a:p>
            <a:pPr marL="489405" lvl="1" indent="-244703" algn="l">
              <a:lnSpc>
                <a:spcPts val="4420"/>
              </a:lnSpc>
              <a:buFont typeface="Arial"/>
              <a:buChar char="•"/>
            </a:pP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Numerical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values were scaled to a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range</a:t>
            </a:r>
            <a:r>
              <a:rPr lang="en-US" sz="2266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 between </a:t>
            </a:r>
            <a:r>
              <a:rPr lang="en-US" sz="2266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0 and 1.</a:t>
            </a:r>
          </a:p>
        </p:txBody>
      </p:sp>
      <p:sp>
        <p:nvSpPr>
          <p:cNvPr id="7" name="Freeform 7"/>
          <p:cNvSpPr/>
          <p:nvPr/>
        </p:nvSpPr>
        <p:spPr>
          <a:xfrm>
            <a:off x="15512024" y="8575782"/>
            <a:ext cx="2775976" cy="1711218"/>
          </a:xfrm>
          <a:custGeom>
            <a:avLst/>
            <a:gdLst/>
            <a:ahLst/>
            <a:cxnLst/>
            <a:rect l="l" t="t" r="r" b="b"/>
            <a:pathLst>
              <a:path w="2775976" h="1711218">
                <a:moveTo>
                  <a:pt x="0" y="0"/>
                </a:moveTo>
                <a:lnTo>
                  <a:pt x="2775976" y="0"/>
                </a:lnTo>
                <a:lnTo>
                  <a:pt x="2775976" y="1711218"/>
                </a:lnTo>
                <a:lnTo>
                  <a:pt x="0" y="1711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220" t="-250100" r="-152107" b="-18545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139003" y="6951161"/>
            <a:ext cx="2943993" cy="3249243"/>
          </a:xfrm>
          <a:custGeom>
            <a:avLst/>
            <a:gdLst/>
            <a:ahLst/>
            <a:cxnLst/>
            <a:rect l="l" t="t" r="r" b="b"/>
            <a:pathLst>
              <a:path w="2943993" h="3249243">
                <a:moveTo>
                  <a:pt x="0" y="0"/>
                </a:moveTo>
                <a:lnTo>
                  <a:pt x="2943993" y="0"/>
                </a:lnTo>
                <a:lnTo>
                  <a:pt x="2943993" y="3249242"/>
                </a:lnTo>
                <a:lnTo>
                  <a:pt x="0" y="3249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3614" b="-1099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512024" y="6050439"/>
            <a:ext cx="1701196" cy="3605200"/>
          </a:xfrm>
          <a:custGeom>
            <a:avLst/>
            <a:gdLst/>
            <a:ahLst/>
            <a:cxnLst/>
            <a:rect l="l" t="t" r="r" b="b"/>
            <a:pathLst>
              <a:path w="1701196" h="3605200">
                <a:moveTo>
                  <a:pt x="0" y="0"/>
                </a:moveTo>
                <a:lnTo>
                  <a:pt x="1701196" y="0"/>
                </a:lnTo>
                <a:lnTo>
                  <a:pt x="1701196" y="3605200"/>
                </a:lnTo>
                <a:lnTo>
                  <a:pt x="0" y="360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276" b="-13202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9001" y="1856128"/>
            <a:ext cx="456991" cy="610380"/>
          </a:xfrm>
          <a:custGeom>
            <a:avLst/>
            <a:gdLst/>
            <a:ahLst/>
            <a:cxnLst/>
            <a:rect l="l" t="t" r="r" b="b"/>
            <a:pathLst>
              <a:path w="456991" h="610380">
                <a:moveTo>
                  <a:pt x="0" y="0"/>
                </a:moveTo>
                <a:lnTo>
                  <a:pt x="456991" y="0"/>
                </a:lnTo>
                <a:lnTo>
                  <a:pt x="456991" y="610381"/>
                </a:lnTo>
                <a:lnTo>
                  <a:pt x="0" y="610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1787" t="-69517" r="-143941" b="-7285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001" y="5030311"/>
            <a:ext cx="456991" cy="610380"/>
          </a:xfrm>
          <a:custGeom>
            <a:avLst/>
            <a:gdLst/>
            <a:ahLst/>
            <a:cxnLst/>
            <a:rect l="l" t="t" r="r" b="b"/>
            <a:pathLst>
              <a:path w="456991" h="610380">
                <a:moveTo>
                  <a:pt x="0" y="0"/>
                </a:moveTo>
                <a:lnTo>
                  <a:pt x="456991" y="0"/>
                </a:lnTo>
                <a:lnTo>
                  <a:pt x="456991" y="610380"/>
                </a:lnTo>
                <a:lnTo>
                  <a:pt x="0" y="61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1787" t="-69517" r="-143941" b="-7285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711764" y="1856128"/>
            <a:ext cx="456991" cy="610380"/>
          </a:xfrm>
          <a:custGeom>
            <a:avLst/>
            <a:gdLst/>
            <a:ahLst/>
            <a:cxnLst/>
            <a:rect l="l" t="t" r="r" b="b"/>
            <a:pathLst>
              <a:path w="456991" h="610380">
                <a:moveTo>
                  <a:pt x="0" y="0"/>
                </a:moveTo>
                <a:lnTo>
                  <a:pt x="456991" y="0"/>
                </a:lnTo>
                <a:lnTo>
                  <a:pt x="456991" y="610381"/>
                </a:lnTo>
                <a:lnTo>
                  <a:pt x="0" y="610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1787" t="-69517" r="-143941" b="-7285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9001" y="7100114"/>
            <a:ext cx="456991" cy="610380"/>
          </a:xfrm>
          <a:custGeom>
            <a:avLst/>
            <a:gdLst/>
            <a:ahLst/>
            <a:cxnLst/>
            <a:rect l="l" t="t" r="r" b="b"/>
            <a:pathLst>
              <a:path w="456991" h="610380">
                <a:moveTo>
                  <a:pt x="0" y="0"/>
                </a:moveTo>
                <a:lnTo>
                  <a:pt x="456991" y="0"/>
                </a:lnTo>
                <a:lnTo>
                  <a:pt x="456991" y="610380"/>
                </a:lnTo>
                <a:lnTo>
                  <a:pt x="0" y="61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1787" t="-69517" r="-143941" b="-7285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192" y="2399030"/>
            <a:ext cx="11092190" cy="287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🌟</a:t>
            </a:r>
            <a:r>
              <a:rPr lang="en-US" sz="2799" b="1">
                <a:solidFill>
                  <a:srgbClr val="3F9BAB"/>
                </a:solidFill>
                <a:latin typeface="Raleway Bold"/>
                <a:ea typeface="Raleway Bold"/>
                <a:cs typeface="Raleway Bold"/>
                <a:sym typeface="Raleway Bold"/>
              </a:rPr>
              <a:t>Central Values</a:t>
            </a:r>
          </a:p>
          <a:p>
            <a:pPr algn="l">
              <a:lnSpc>
                <a:spcPts val="3220"/>
              </a:lnSpc>
            </a:pPr>
            <a:endParaRPr lang="en-US" sz="2799" b="1">
              <a:solidFill>
                <a:srgbClr val="3F9BAB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Calculated the mean, median, and mode for the Rating column.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These measures were used to summarize the overall rating distribution.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Helped understand the general level of user satisfaction.</a:t>
            </a:r>
          </a:p>
          <a:p>
            <a:pPr algn="l">
              <a:lnSpc>
                <a:spcPts val="3080"/>
              </a:lnSpc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862281" y="669684"/>
            <a:ext cx="12494171" cy="138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59"/>
              </a:lnSpc>
            </a:pPr>
            <a:r>
              <a:rPr lang="en-US" sz="11176" b="1" spc="-514">
                <a:solidFill>
                  <a:srgbClr val="3B7B68"/>
                </a:solidFill>
                <a:latin typeface="Raleway Bold"/>
                <a:ea typeface="Raleway Bold"/>
                <a:cs typeface="Raleway Bold"/>
                <a:sym typeface="Raleway Bold"/>
              </a:rPr>
              <a:t>Data analysis </a:t>
            </a:r>
          </a:p>
        </p:txBody>
      </p:sp>
      <p:sp>
        <p:nvSpPr>
          <p:cNvPr id="4" name="Freeform 4"/>
          <p:cNvSpPr/>
          <p:nvPr/>
        </p:nvSpPr>
        <p:spPr>
          <a:xfrm>
            <a:off x="11304382" y="1446892"/>
            <a:ext cx="6567924" cy="5851423"/>
          </a:xfrm>
          <a:custGeom>
            <a:avLst/>
            <a:gdLst/>
            <a:ahLst/>
            <a:cxnLst/>
            <a:rect l="l" t="t" r="r" b="b"/>
            <a:pathLst>
              <a:path w="6567924" h="5851423">
                <a:moveTo>
                  <a:pt x="0" y="0"/>
                </a:moveTo>
                <a:lnTo>
                  <a:pt x="6567924" y="0"/>
                </a:lnTo>
                <a:lnTo>
                  <a:pt x="6567924" y="5851423"/>
                </a:lnTo>
                <a:lnTo>
                  <a:pt x="0" y="5851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12192" y="4828165"/>
            <a:ext cx="10742280" cy="247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3F9BAB"/>
                </a:solidFill>
                <a:latin typeface="Raleway Bold"/>
                <a:ea typeface="Raleway Bold"/>
                <a:cs typeface="Raleway Bold"/>
                <a:sym typeface="Raleway Bold"/>
              </a:rPr>
              <a:t>🌟Measures of Dispersion</a:t>
            </a:r>
          </a:p>
          <a:p>
            <a:pPr algn="l">
              <a:lnSpc>
                <a:spcPts val="3080"/>
              </a:lnSpc>
            </a:pPr>
            <a:endParaRPr lang="en-US" sz="2799" b="1">
              <a:solidFill>
                <a:srgbClr val="3F9BAB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Calculated the standard deviation and variance for the Rating column.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Used to understand how spread out the rating values are.</a:t>
            </a:r>
          </a:p>
          <a:p>
            <a:pPr algn="l">
              <a:lnSpc>
                <a:spcPts val="3080"/>
              </a:lnSpc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813" y="6803668"/>
            <a:ext cx="10863037" cy="289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3F9BAB"/>
                </a:solidFill>
                <a:latin typeface="Raleway Bold"/>
                <a:ea typeface="Raleway Bold"/>
                <a:cs typeface="Raleway Bold"/>
                <a:sym typeface="Raleway Bold"/>
              </a:rPr>
              <a:t>🌟Common Words Analysis</a:t>
            </a:r>
          </a:p>
          <a:p>
            <a:pPr algn="l">
              <a:lnSpc>
                <a:spcPts val="3220"/>
              </a:lnSpc>
            </a:pPr>
            <a:endParaRPr lang="en-US" sz="2799" b="1">
              <a:solidFill>
                <a:srgbClr val="3F9BAB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Analyzed the Best_comment column to find the most frequent words.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Word frequency was calculated after cleaning the text.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35099"/>
                </a:solidFill>
                <a:latin typeface="Raleway Bold"/>
                <a:ea typeface="Raleway Bold"/>
                <a:cs typeface="Raleway Bold"/>
                <a:sym typeface="Raleway Bold"/>
              </a:rPr>
              <a:t>Helped identify common themes in user comments.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635099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802795" y="491473"/>
            <a:ext cx="12494171" cy="138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59"/>
              </a:lnSpc>
            </a:pPr>
            <a:r>
              <a:rPr lang="en-US" sz="11176" b="1" spc="-514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</a:rPr>
              <a:t>Data analysis </a:t>
            </a:r>
          </a:p>
        </p:txBody>
      </p:sp>
      <p:sp>
        <p:nvSpPr>
          <p:cNvPr id="3" name="Freeform 3"/>
          <p:cNvSpPr/>
          <p:nvPr/>
        </p:nvSpPr>
        <p:spPr>
          <a:xfrm>
            <a:off x="11304382" y="1446892"/>
            <a:ext cx="6567924" cy="5851423"/>
          </a:xfrm>
          <a:custGeom>
            <a:avLst/>
            <a:gdLst/>
            <a:ahLst/>
            <a:cxnLst/>
            <a:rect l="l" t="t" r="r" b="b"/>
            <a:pathLst>
              <a:path w="6567924" h="5851423">
                <a:moveTo>
                  <a:pt x="0" y="0"/>
                </a:moveTo>
                <a:lnTo>
                  <a:pt x="6567924" y="0"/>
                </a:lnTo>
                <a:lnTo>
                  <a:pt x="6567924" y="5851423"/>
                </a:lnTo>
                <a:lnTo>
                  <a:pt x="0" y="5851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8558" y="2197674"/>
            <a:ext cx="7627641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endParaRPr dirty="0"/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F9BA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Grouping and Aggregating Data: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6522" y="3071425"/>
            <a:ext cx="5540878" cy="1054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dirty="0"/>
          </a:p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was grouped by Genre.</a:t>
            </a:r>
          </a:p>
          <a:p>
            <a:pPr algn="ctr">
              <a:lnSpc>
                <a:spcPts val="2800"/>
              </a:lnSpc>
            </a:pPr>
            <a:endParaRPr lang="en-US" sz="2000" b="1" dirty="0">
              <a:solidFill>
                <a:srgbClr val="635099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59" y="5976056"/>
            <a:ext cx="943600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F9BA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Calculating the correlation between variables: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2354" y="6814256"/>
            <a:ext cx="7297646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number of ratings was calculated for each genre.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2354" y="7253930"/>
            <a:ext cx="8974046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D3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Rating_count</a:t>
            </a: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was created to represent how often places are rated.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6522" y="7697224"/>
            <a:ext cx="12246478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Correlation was calculated between ( </a:t>
            </a:r>
            <a:r>
              <a:rPr lang="en-US" sz="2000" b="1" dirty="0">
                <a:solidFill>
                  <a:srgbClr val="6D3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</a:t>
            </a: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/ </a:t>
            </a:r>
            <a:r>
              <a:rPr lang="en-US" sz="2000" b="1" dirty="0">
                <a:solidFill>
                  <a:srgbClr val="6D3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Review_count </a:t>
            </a: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 </a:t>
            </a:r>
            <a:r>
              <a:rPr lang="en-US" sz="2000" b="1" dirty="0">
                <a:solidFill>
                  <a:srgbClr val="6D3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Rating_count </a:t>
            </a: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 </a:t>
            </a:r>
            <a:r>
              <a:rPr lang="en-US" sz="2000" b="1" dirty="0">
                <a:solidFill>
                  <a:srgbClr val="6D3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Rating_scaled</a:t>
            </a: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2354" y="8140517"/>
            <a:ext cx="12022046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analysis examines the relationship between place ratings and the number of reviews.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441" y="3896384"/>
            <a:ext cx="6988678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average rating was calculated for each genre.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4070056"/>
            <a:ext cx="7064878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dirty="0"/>
          </a:p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top 10 highest-rated genres were identified.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7954" y="4942039"/>
            <a:ext cx="9046078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 algn="ctr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6350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analysis highlights the types of places with higher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66110" y="8430655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5" y="0"/>
                </a:lnTo>
                <a:lnTo>
                  <a:pt x="5277925" y="4404669"/>
                </a:lnTo>
                <a:lnTo>
                  <a:pt x="0" y="4404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330976" y="-2655412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49814" y="542141"/>
            <a:ext cx="12027252" cy="124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spc="-461">
                <a:solidFill>
                  <a:srgbClr val="00694C"/>
                </a:solidFill>
                <a:latin typeface="Raleway"/>
                <a:ea typeface="Raleway"/>
                <a:cs typeface="Raleway"/>
                <a:sym typeface="Raleway"/>
              </a:rPr>
              <a:t>Data visualisation: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308027"/>
            <a:ext cx="18288000" cy="703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</a:pPr>
            <a:endParaRPr/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</a:rPr>
              <a:t>The data was analyzed and visualized using Python, transforming raw data into clear and insightful graphics</a:t>
            </a:r>
            <a:r>
              <a:rPr lang="ar-EG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endParaRPr lang="ar-EG" sz="3060">
              <a:solidFill>
                <a:srgbClr val="635099"/>
              </a:solidFill>
              <a:latin typeface="Open Sans"/>
              <a:ea typeface="Open Sans"/>
              <a:cs typeface="Open Sans"/>
              <a:sym typeface="Open Sans"/>
              <a:rtl/>
            </a:endParaRP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</a:rPr>
              <a:t>Bar Chart to compare different values</a:t>
            </a:r>
            <a:r>
              <a:rPr lang="ar-EG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</a:rPr>
              <a:t>Histogram to show data distribution and frequency</a:t>
            </a:r>
            <a:r>
              <a:rPr lang="ar-EG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</a:rPr>
              <a:t>Line Chart to illustrate trends over time</a:t>
            </a:r>
            <a:r>
              <a:rPr lang="ar-EG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</a:rPr>
              <a:t>Horizontal Bar Chart (Barh) for easier comparison across categories</a:t>
            </a:r>
            <a:r>
              <a:rPr lang="ar-EG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</a:rPr>
              <a:t>Heatmap to visually highlight relationships and correlations between variables</a:t>
            </a:r>
            <a:r>
              <a:rPr lang="ar-EG" sz="3060">
                <a:solidFill>
                  <a:srgbClr val="635099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endParaRPr lang="ar-EG" sz="3060">
              <a:solidFill>
                <a:srgbClr val="635099"/>
              </a:solidFill>
              <a:latin typeface="Open Sans"/>
              <a:ea typeface="Open Sans"/>
              <a:cs typeface="Open Sans"/>
              <a:sym typeface="Open Sans"/>
              <a:rtl/>
            </a:endParaRPr>
          </a:p>
          <a:p>
            <a:pPr algn="ctr" rtl="1">
              <a:lnSpc>
                <a:spcPts val="4284"/>
              </a:lnSpc>
            </a:pPr>
            <a:r>
              <a:rPr lang="en-US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</a:rPr>
              <a:t>These visualizations helped simplify data analysis and supported decision-making with clear and understandable results</a:t>
            </a:r>
            <a:r>
              <a:rPr lang="ar-EG" sz="3060">
                <a:solidFill>
                  <a:srgbClr val="00694C"/>
                </a:solidFill>
                <a:latin typeface="Open Sans"/>
                <a:ea typeface="Open Sans"/>
                <a:cs typeface="Open Sans"/>
                <a:sym typeface="Open Sans"/>
                <a:rtl/>
              </a:rPr>
              <a:t>.</a:t>
            </a:r>
          </a:p>
          <a:p>
            <a:pPr algn="ctr" rtl="1">
              <a:lnSpc>
                <a:spcPts val="4284"/>
              </a:lnSpc>
            </a:pPr>
            <a:endParaRPr lang="ar-EG" sz="3060">
              <a:solidFill>
                <a:srgbClr val="00694C"/>
              </a:solidFill>
              <a:latin typeface="Open Sans"/>
              <a:ea typeface="Open Sans"/>
              <a:cs typeface="Open Sans"/>
              <a:sym typeface="Open Sans"/>
              <a:rtl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558104" y="-281269"/>
            <a:ext cx="1493938" cy="3165974"/>
          </a:xfrm>
          <a:custGeom>
            <a:avLst/>
            <a:gdLst/>
            <a:ahLst/>
            <a:cxnLst/>
            <a:rect l="l" t="t" r="r" b="b"/>
            <a:pathLst>
              <a:path w="1493938" h="3165974">
                <a:moveTo>
                  <a:pt x="0" y="0"/>
                </a:moveTo>
                <a:lnTo>
                  <a:pt x="1493937" y="0"/>
                </a:lnTo>
                <a:lnTo>
                  <a:pt x="1493937" y="3165974"/>
                </a:lnTo>
                <a:lnTo>
                  <a:pt x="0" y="3165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3276" b="-13202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577066" y="265916"/>
            <a:ext cx="1981038" cy="2186443"/>
          </a:xfrm>
          <a:custGeom>
            <a:avLst/>
            <a:gdLst/>
            <a:ahLst/>
            <a:cxnLst/>
            <a:rect l="l" t="t" r="r" b="b"/>
            <a:pathLst>
              <a:path w="1981038" h="2186443">
                <a:moveTo>
                  <a:pt x="0" y="0"/>
                </a:moveTo>
                <a:lnTo>
                  <a:pt x="1981038" y="0"/>
                </a:lnTo>
                <a:lnTo>
                  <a:pt x="1981038" y="2186443"/>
                </a:lnTo>
                <a:lnTo>
                  <a:pt x="0" y="21864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13614" b="-1099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20337" y="8659717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9"/>
                </a:lnTo>
                <a:lnTo>
                  <a:pt x="0" y="4404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45579" y="896401"/>
            <a:ext cx="15596843" cy="8736107"/>
          </a:xfrm>
          <a:custGeom>
            <a:avLst/>
            <a:gdLst/>
            <a:ahLst/>
            <a:cxnLst/>
            <a:rect l="l" t="t" r="r" b="b"/>
            <a:pathLst>
              <a:path w="15596843" h="8736107">
                <a:moveTo>
                  <a:pt x="0" y="0"/>
                </a:moveTo>
                <a:lnTo>
                  <a:pt x="15596842" y="0"/>
                </a:lnTo>
                <a:lnTo>
                  <a:pt x="15596842" y="8736107"/>
                </a:lnTo>
                <a:lnTo>
                  <a:pt x="0" y="87361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1876" y="5608386"/>
            <a:ext cx="2956124" cy="3307552"/>
          </a:xfrm>
          <a:custGeom>
            <a:avLst/>
            <a:gdLst/>
            <a:ahLst/>
            <a:cxnLst/>
            <a:rect l="l" t="t" r="r" b="b"/>
            <a:pathLst>
              <a:path w="2956124" h="3307552">
                <a:moveTo>
                  <a:pt x="0" y="0"/>
                </a:moveTo>
                <a:lnTo>
                  <a:pt x="2956124" y="0"/>
                </a:lnTo>
                <a:lnTo>
                  <a:pt x="2956124" y="3307552"/>
                </a:lnTo>
                <a:lnTo>
                  <a:pt x="0" y="3307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663016" y="6465126"/>
            <a:ext cx="3652789" cy="3161323"/>
          </a:xfrm>
          <a:custGeom>
            <a:avLst/>
            <a:gdLst/>
            <a:ahLst/>
            <a:cxnLst/>
            <a:rect l="l" t="t" r="r" b="b"/>
            <a:pathLst>
              <a:path w="3652789" h="3161323">
                <a:moveTo>
                  <a:pt x="0" y="0"/>
                </a:moveTo>
                <a:lnTo>
                  <a:pt x="3652789" y="0"/>
                </a:lnTo>
                <a:lnTo>
                  <a:pt x="3652789" y="3161323"/>
                </a:lnTo>
                <a:lnTo>
                  <a:pt x="0" y="3161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571802"/>
              </p:ext>
            </p:extLst>
          </p:nvPr>
        </p:nvGraphicFramePr>
        <p:xfrm>
          <a:off x="742617" y="1937571"/>
          <a:ext cx="13254922" cy="8075845"/>
        </p:xfrm>
        <a:graphic>
          <a:graphicData uri="http://schemas.openxmlformats.org/drawingml/2006/table">
            <a:tbl>
              <a:tblPr/>
              <a:tblGrid>
                <a:gridCol w="264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6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642"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313"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 dirty="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9719"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 dirty="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 dirty="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6525">
                <a:tc>
                  <a:txBody>
                    <a:bodyPr/>
                    <a:lstStyle/>
                    <a:p>
                      <a:pPr algn="ctr" rtl="1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6238"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3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408"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/>
                    </a:p>
                  </a:txBody>
                  <a:tcPr marL="184504" marR="184504" marT="184504" marB="184504" anchor="ctr">
                    <a:lnL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9"/>
                        </a:lnSpc>
                        <a:defRPr/>
                      </a:pPr>
                      <a:endParaRPr lang="en-US" sz="1100" dirty="0"/>
                    </a:p>
                  </a:txBody>
                  <a:tcPr marL="184504" marR="184504" marT="184504" marB="184504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25" cap="flat" cmpd="sng" algn="ctr">
                      <a:solidFill>
                        <a:srgbClr val="3EC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2167426"/>
            <a:ext cx="2782047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Name: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592455"/>
            <a:ext cx="11741164" cy="11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10"/>
              </a:lnSpc>
            </a:pPr>
            <a:r>
              <a:rPr lang="en-US" sz="8900" b="1" spc="-409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contribution report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0747" y="2167426"/>
            <a:ext cx="8861019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work done by members: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114" y="3588405"/>
            <a:ext cx="2895909" cy="74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  <a:rtl/>
              </a:rPr>
              <a:t>Wateen</a:t>
            </a:r>
            <a:r>
              <a:rPr lang="ar-EG" sz="3600" b="1" dirty="0">
                <a:solidFill>
                  <a:srgbClr val="00694C"/>
                </a:solidFill>
                <a:latin typeface="Raleway Semi-Bold"/>
                <a:ea typeface="Raleway Semi-Bold"/>
                <a:cs typeface="Raleway Semi-Bold"/>
                <a:sym typeface="Raleway Semi-Bold"/>
                <a:rtl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944" y="5041892"/>
            <a:ext cx="2658702" cy="74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439"/>
              </a:lnSpc>
              <a:spcBef>
                <a:spcPct val="0"/>
              </a:spcBef>
            </a:pPr>
            <a:r>
              <a:rPr lang="en-US" sz="3600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Fatimah</a:t>
            </a:r>
            <a:endParaRPr lang="ar-EG" sz="3600" dirty="0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  <a:rtl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4806" y="6328275"/>
            <a:ext cx="2430977" cy="1181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75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Shahad</a:t>
            </a:r>
            <a:r>
              <a:rPr lang="en-US" sz="3399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 Alrehaili</a:t>
            </a:r>
            <a:endParaRPr lang="ar-EG" sz="3399" b="1" dirty="0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3321" y="7584365"/>
            <a:ext cx="2658702" cy="11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Shahad </a:t>
            </a:r>
            <a:r>
              <a:rPr lang="en-US" sz="3200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Alwadaani</a:t>
            </a:r>
            <a:endParaRPr lang="ar-EG" sz="3200" b="1" dirty="0">
              <a:solidFill>
                <a:srgbClr val="00694C"/>
              </a:solidFill>
              <a:latin typeface="Raleway Bold"/>
              <a:ea typeface="Raleway Bold"/>
              <a:cs typeface="Raleway Bold"/>
              <a:sym typeface="Raleway Bold"/>
              <a:rtl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7554" y="8928402"/>
            <a:ext cx="2034470" cy="754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71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Bayan</a:t>
            </a:r>
            <a:r>
              <a:rPr lang="ar-EG" sz="3600" b="1" dirty="0">
                <a:solidFill>
                  <a:srgbClr val="00694C"/>
                </a:solidFill>
                <a:latin typeface="Raleway Bold"/>
                <a:ea typeface="Raleway Bold"/>
                <a:cs typeface="Raleway Bold"/>
                <a:sym typeface="Raleway Bold"/>
                <a:rtl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87651" y="3801889"/>
            <a:ext cx="10344918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Load Data + Data Processing </a:t>
            </a:r>
            <a:r>
              <a:rPr lang="en-US" sz="2400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( Handling Missing Values, Removing Duplicate Records, Data Reformatting ) </a:t>
            </a:r>
            <a:r>
              <a:rPr lang="en-US" sz="24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+ Dashboard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33317" y="5141104"/>
            <a:ext cx="9680921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Load Data + Data Processing ( </a:t>
            </a:r>
            <a:r>
              <a:rPr lang="en-US" sz="2400" b="1" dirty="0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Tokenizing text data and cleaning text ( removing emojis, punctuation, and extra spaces) </a:t>
            </a: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7479" y="6489367"/>
            <a:ext cx="1198526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Analysis</a:t>
            </a:r>
            <a:r>
              <a:rPr lang="en-US" sz="2199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(</a:t>
            </a:r>
            <a:r>
              <a:rPr lang="en-US" sz="2199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 Finding central values (mean, median, mode) and finding </a:t>
            </a:r>
          </a:p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common words in text data (word frequency analysis) </a:t>
            </a:r>
            <a:r>
              <a:rPr lang="en-US" sz="21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) + contribution report.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58576" y="7786037"/>
            <a:ext cx="11985263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Analysis </a:t>
            </a:r>
            <a:r>
              <a:rPr lang="en-US" sz="2400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( Calculating the correlation between variables and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 grouping and aggregating data ) </a:t>
            </a:r>
            <a:r>
              <a:rPr lang="en-US" sz="24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+ contribution 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81146" y="9077627"/>
            <a:ext cx="11985263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Visualization</a:t>
            </a:r>
            <a:r>
              <a:rPr lang="en-US" sz="2400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 ( Creating visualizations using matplotlib and 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75942"/>
                </a:solidFill>
                <a:latin typeface="Raleway Bold"/>
                <a:ea typeface="Raleway Bold"/>
                <a:cs typeface="Raleway Bold"/>
                <a:sym typeface="Raleway Bold"/>
              </a:rPr>
              <a:t>seaborn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67657" y="1376536"/>
            <a:ext cx="5561408" cy="7533927"/>
          </a:xfrm>
          <a:custGeom>
            <a:avLst/>
            <a:gdLst/>
            <a:ahLst/>
            <a:cxnLst/>
            <a:rect l="l" t="t" r="r" b="b"/>
            <a:pathLst>
              <a:path w="5561408" h="7533927">
                <a:moveTo>
                  <a:pt x="0" y="0"/>
                </a:moveTo>
                <a:lnTo>
                  <a:pt x="5561408" y="0"/>
                </a:lnTo>
                <a:lnTo>
                  <a:pt x="5561408" y="7533928"/>
                </a:lnTo>
                <a:lnTo>
                  <a:pt x="0" y="753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301485"/>
            <a:ext cx="6718515" cy="40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426"/>
              </a:lnSpc>
            </a:pPr>
            <a:r>
              <a:rPr lang="en-US" sz="10638" b="1">
                <a:solidFill>
                  <a:srgbClr val="00694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for your attention :)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1922" y="7927176"/>
            <a:ext cx="9974136" cy="13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sz="5114" b="1" i="1">
                <a:solidFill>
                  <a:srgbClr val="259678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If you have any questions, we’ll be happy to answer them now!!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 ProgrammingProject-Group(5) (F5)-Entertainment in KSA</Template>
  <TotalTime>19</TotalTime>
  <Words>948</Words>
  <Application>Microsoft Office PowerPoint</Application>
  <PresentationFormat>Custom</PresentationFormat>
  <Paragraphs>131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Raleway Medium</vt:lpstr>
      <vt:lpstr>Raleway Bold Italics</vt:lpstr>
      <vt:lpstr>Raleway Bold</vt:lpstr>
      <vt:lpstr>Open Sans Bold</vt:lpstr>
      <vt:lpstr>Open Sans</vt:lpstr>
      <vt:lpstr>Raleway</vt:lpstr>
      <vt:lpstr>Raleway Semi-Bold</vt:lpstr>
      <vt:lpstr>Calibri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witty whitty</dc:creator>
  <cp:lastModifiedBy>The witty whitty</cp:lastModifiedBy>
  <cp:revision>1</cp:revision>
  <dcterms:created xsi:type="dcterms:W3CDTF">2025-12-19T09:58:23Z</dcterms:created>
  <dcterms:modified xsi:type="dcterms:W3CDTF">2025-12-19T10:39:57Z</dcterms:modified>
  <dc:identifier>DAG7l4AceGE</dc:identifier>
</cp:coreProperties>
</file>